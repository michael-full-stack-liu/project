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51AE7A-F548-4B3E-A508-FD5B309E6D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261179-1276-49DF-A292-FA8D638A49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3D05F11-DE21-4863-A07C-890542D027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297D92-F273-438E-A1A9-990595C105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4CA8F0C-2FD8-40EF-B8F0-893F156619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76A89AD-D444-4828-B464-2BA68A9E50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5C52F14-9E68-4E16-B976-A93679F2B3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2F9E132-D008-4B01-95F2-1CADAD8A09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2977E95-FBEE-4B4F-B128-0CE6D6244E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B422DEC-A75E-4503-B10D-1B0FAEC14B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7BA862C-5A8F-40A9-85A3-0790076E3B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45DCED-5E5C-4D66-9C4C-2203D0F2A1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602C6E-28FF-467A-9D2A-1C341B2F07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5B1E4C-19A9-4807-8484-ED91B86CEC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C26FEA-273F-4FD8-BA18-6A7450FF7A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39063A-5ABB-4C98-9809-540DF648B3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7AF38A-08F6-49C7-B8C4-64ED27EBDE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063090-1415-4CFC-81B7-1A1C48810A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2EB29F-DCA5-436D-A2B8-87069F8586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F502CE-DFF0-4B16-8E88-AD6AA1CCFAF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Calibri"/>
              </a:rPr>
              <a:t>单击以编辑标题文本格式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点击以编辑提纲文本格式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pc="-1" strike="noStrike">
                <a:solidFill>
                  <a:schemeClr val="dk1"/>
                </a:solidFill>
                <a:latin typeface="Calibri"/>
              </a:rPr>
              <a:t>第二提纲级别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第三提纲级别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第四提纲级别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第五提纲级别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第六提纲级别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chemeClr val="dk1"/>
                </a:solidFill>
                <a:latin typeface="Calibri"/>
              </a:rPr>
              <a:t>第七提纲级别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89B1BD-D3D8-4155-9BB2-42BEC7A558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点击以编辑提纲文本格式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第二提纲级别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第三提纲级别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第四提纲级别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第五提纲级别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第六提纲级别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第七提纲级别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&lt;日期/时间&gt;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5838A5-82C3-4A2C-BA4D-FC1E5653E1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8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bg_slide_01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3666960" y="3738600"/>
            <a:ext cx="113342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00e5ff"/>
                </a:solidFill>
                <a:latin typeface="Inter"/>
              </a:rPr>
              <a:t>QUANTITATIVE WEATHER PREDICTION ON POLYMARKET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3186000" y="4414680"/>
            <a:ext cx="1262988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7500" spc="-1" strike="noStrike">
                <a:solidFill>
                  <a:srgbClr val="f8fafc"/>
                </a:solidFill>
                <a:latin typeface="Inter"/>
              </a:rPr>
              <a:t>Seattle Weather Forecast</a:t>
            </a:r>
            <a:endParaRPr b="0" lang="en-US" sz="7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858080" y="6224760"/>
            <a:ext cx="2952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cbd5e1"/>
                </a:solidFill>
                <a:latin typeface="Inter"/>
              </a:rPr>
              <a:t>Project Presentation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 descr="bg_slide_02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72" name="TextBox 2"/>
          <p:cNvSpPr/>
          <p:nvPr/>
        </p:nvSpPr>
        <p:spPr>
          <a:xfrm>
            <a:off x="952560" y="1360800"/>
            <a:ext cx="168397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0e5ff"/>
                </a:solidFill>
                <a:latin typeface="Inter"/>
              </a:rPr>
              <a:t>Background: Climate Derivatives &amp; Polymarket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952560" y="2723040"/>
            <a:ext cx="63813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ff88"/>
                </a:solidFill>
                <a:latin typeface="Inter"/>
              </a:rPr>
              <a:t>Why target weather on Polymarket?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9429840" y="2723040"/>
            <a:ext cx="57146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4757"/>
                </a:solidFill>
                <a:latin typeface="Inter"/>
              </a:rPr>
              <a:t>Opportunities in Current Pricing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1333440" y="3404880"/>
            <a:ext cx="7905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The "Seattle High Temp" market resolves daily based on exact degree increments (e.g., 58-59°F).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9810720" y="3404880"/>
            <a:ext cx="7905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Many participants rely on consumer-grade apps or local news, which often have slight delays in updates.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1333440" y="5241240"/>
            <a:ext cx="7905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High retail participation can create short-term pricing inefficiencies, especially during seasonal transitions.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9810720" y="5241240"/>
            <a:ext cx="790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This creates a window where algorithmic models can identify and act on latency gaps.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952560" y="7991640"/>
            <a:ext cx="16763760" cy="15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8fafc"/>
                </a:solidFill>
                <a:latin typeface="Inter"/>
              </a:rPr>
              <a:t>Goal: Leveraging Machine Learning to build a data-driven informational advantage and capture consistent returns.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1" descr="bg_slide_03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2" descr="ve_slide_03_000.png"/>
          <p:cNvPicPr/>
          <p:nvPr/>
        </p:nvPicPr>
        <p:blipFill>
          <a:blip r:embed="rId2"/>
          <a:stretch/>
        </p:blipFill>
        <p:spPr>
          <a:xfrm>
            <a:off x="952560" y="2665800"/>
            <a:ext cx="7810200" cy="633204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3" descr="ve_slide_03_001.png"/>
          <p:cNvPicPr/>
          <p:nvPr/>
        </p:nvPicPr>
        <p:blipFill>
          <a:blip r:embed="rId3"/>
          <a:stretch/>
        </p:blipFill>
        <p:spPr>
          <a:xfrm>
            <a:off x="9415800" y="2665800"/>
            <a:ext cx="7810200" cy="6332040"/>
          </a:xfrm>
          <a:prstGeom prst="rect">
            <a:avLst/>
          </a:prstGeom>
          <a:ln w="0">
            <a:noFill/>
          </a:ln>
        </p:spPr>
      </p:pic>
      <p:sp>
        <p:nvSpPr>
          <p:cNvPr id="83" name="TextBox 4"/>
          <p:cNvSpPr/>
          <p:nvPr/>
        </p:nvSpPr>
        <p:spPr>
          <a:xfrm>
            <a:off x="952560" y="1360800"/>
            <a:ext cx="168397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0e5ff"/>
                </a:solidFill>
                <a:latin typeface="Inter"/>
              </a:rPr>
              <a:t>Data Acquisition: Challenges &amp; Current State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1438200" y="3151440"/>
            <a:ext cx="72194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4757"/>
                </a:solidFill>
                <a:latin typeface="Inter"/>
              </a:rPr>
              <a:t>Early Challenges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10010880" y="3151440"/>
            <a:ext cx="72194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ff88"/>
                </a:solidFill>
                <a:latin typeface="Inter"/>
              </a:rPr>
              <a:t>Current Architecture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1819440" y="4092840"/>
            <a:ext cx="683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Initial attempts to scrape consumer weather sites resulted in delayed, low-resolution data.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1438200" y="3721680"/>
            <a:ext cx="4266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e2e8f0"/>
                </a:solidFill>
                <a:latin typeface="Inter"/>
              </a:rPr>
              <a:t>Web-scraping limitations: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10391760" y="4092840"/>
            <a:ext cx="683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Transitioned to the professional Aviation Weather Center (AWC) APIs targeting Seattle-Tacoma.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10080000" y="3768840"/>
            <a:ext cx="4352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e2e8f0"/>
                </a:solidFill>
                <a:latin typeface="Inter"/>
              </a:rPr>
              <a:t>Aviation Channels (KSEA):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1"/>
          <p:cNvSpPr/>
          <p:nvPr/>
        </p:nvSpPr>
        <p:spPr>
          <a:xfrm>
            <a:off x="1819440" y="5693040"/>
            <a:ext cx="683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Historical data packages frequently contained mismatched timestamps and units.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1381680" y="5220000"/>
            <a:ext cx="3838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e2e8f0"/>
                </a:solidFill>
                <a:latin typeface="Inter"/>
              </a:rPr>
              <a:t>Incompatible Archives: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10391760" y="6188760"/>
            <a:ext cx="683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Ingesting raw terminal text strings directly to ensure low-latency, accurate measurements.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4"/>
          <p:cNvSpPr/>
          <p:nvPr/>
        </p:nvSpPr>
        <p:spPr>
          <a:xfrm>
            <a:off x="10149480" y="5693040"/>
            <a:ext cx="29905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e2e8f0"/>
                </a:solidFill>
                <a:latin typeface="Inter"/>
              </a:rPr>
              <a:t>Raw METAR Text: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5"/>
          <p:cNvSpPr/>
          <p:nvPr/>
        </p:nvSpPr>
        <p:spPr>
          <a:xfrm>
            <a:off x="1819440" y="7293240"/>
            <a:ext cx="6838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Unpredictable data gaps disrupted time-series modeling.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6"/>
          <p:cNvSpPr/>
          <p:nvPr/>
        </p:nvSpPr>
        <p:spPr>
          <a:xfrm>
            <a:off x="1381680" y="6828840"/>
            <a:ext cx="3838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e2e8f0"/>
                </a:solidFill>
                <a:latin typeface="Inter"/>
              </a:rPr>
              <a:t>Data continuity issues: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1" descr="bg_slide_04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97" name="TextBox 2"/>
          <p:cNvSpPr/>
          <p:nvPr/>
        </p:nvSpPr>
        <p:spPr>
          <a:xfrm>
            <a:off x="952560" y="1360800"/>
            <a:ext cx="168397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0e5ff"/>
                </a:solidFill>
                <a:latin typeface="Inter"/>
              </a:rPr>
              <a:t>Feature Engineering &amp; Signal Extraction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952560" y="2723040"/>
            <a:ext cx="3133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8fafc"/>
                </a:solidFill>
                <a:latin typeface="Inter"/>
              </a:rPr>
              <a:t>Parsing the Data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952560" y="3328560"/>
            <a:ext cx="1604916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a5b4fc"/>
                </a:solidFill>
                <a:latin typeface="Inter"/>
              </a:rPr>
              <a:t>METAR strings contain dense meteorological data. Standardized parsing pipelines extract temperature, pressure, and wind into clean numerical vectors.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1390680" y="5073480"/>
            <a:ext cx="15944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0e5ff"/>
                </a:solidFill>
                <a:latin typeface="Inter"/>
              </a:rPr>
              <a:t>Core Engineered Features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1771560" y="6064200"/>
            <a:ext cx="7876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250" spc="-1" strike="noStrike">
                <a:solidFill>
                  <a:srgbClr val="e2e8f0"/>
                </a:solidFill>
                <a:latin typeface="Inter"/>
              </a:rPr>
              <a:t>3-hour trailing slopes to identify approaching high-pressure systems.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9458280" y="6064200"/>
            <a:ext cx="7876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250" spc="-1" strike="noStrike">
                <a:solidFill>
                  <a:srgbClr val="e2e8f0"/>
                </a:solidFill>
                <a:latin typeface="Inter"/>
              </a:rPr>
              <a:t>Estimating saturation risk for fog formation vs. clear-sky conditions.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1771560" y="5682600"/>
            <a:ext cx="275220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50" spc="-1" strike="noStrike">
                <a:solidFill>
                  <a:srgbClr val="e2e8f0"/>
                </a:solidFill>
                <a:latin typeface="Inter"/>
              </a:rPr>
              <a:t>Pressure Trends: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9360000" y="5597280"/>
            <a:ext cx="2943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50" spc="-1" strike="noStrike">
                <a:solidFill>
                  <a:srgbClr val="e2e8f0"/>
                </a:solidFill>
                <a:latin typeface="Inter"/>
              </a:rPr>
              <a:t>Dew Point Spread: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1771560" y="7169040"/>
            <a:ext cx="7876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250" spc="-1" strike="noStrike">
                <a:solidFill>
                  <a:srgbClr val="e2e8f0"/>
                </a:solidFill>
                <a:latin typeface="Inter"/>
              </a:rPr>
              <a:t>Converting polar degrees into continuous Sine/Cosine vector components.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9458280" y="7169040"/>
            <a:ext cx="7876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250" spc="-1" strike="noStrike">
                <a:solidFill>
                  <a:srgbClr val="e2e8f0"/>
                </a:solidFill>
                <a:latin typeface="Inter"/>
              </a:rPr>
              <a:t>Aggregating cloud-cover codes into a continuous solar radiation impact index.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1771560" y="6840000"/>
            <a:ext cx="372384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50" spc="-1" strike="noStrike">
                <a:solidFill>
                  <a:srgbClr val="e2e8f0"/>
                </a:solidFill>
                <a:latin typeface="Inter"/>
              </a:rPr>
              <a:t>Wind Shear Translation: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9376920" y="6840000"/>
            <a:ext cx="3943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50" spc="-1" strike="noStrike">
                <a:solidFill>
                  <a:srgbClr val="e2e8f0"/>
                </a:solidFill>
                <a:latin typeface="Inter"/>
              </a:rPr>
              <a:t>Solar Radiation Windows: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" descr="bg_slide_05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110" name="TextBox 2"/>
          <p:cNvSpPr/>
          <p:nvPr/>
        </p:nvSpPr>
        <p:spPr>
          <a:xfrm>
            <a:off x="952560" y="1360800"/>
            <a:ext cx="168397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0e5ff"/>
                </a:solidFill>
                <a:latin typeface="Inter"/>
              </a:rPr>
              <a:t>Data Pipeline &amp; Normalization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952560" y="2723040"/>
            <a:ext cx="4304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8fafc"/>
                </a:solidFill>
                <a:latin typeface="Inter"/>
              </a:rPr>
              <a:t>Local Data Architecture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952560" y="3328560"/>
            <a:ext cx="1631592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a5b4fc"/>
                </a:solidFill>
                <a:latin typeface="Inter"/>
              </a:rPr>
              <a:t>To ensure responsive UI performance without hitting API rate limits, METAR histories are synchronized to a local SQLite database (`app_database.db`).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952560" y="4749840"/>
            <a:ext cx="3657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8fafc"/>
                </a:solidFill>
                <a:latin typeface="Inter"/>
              </a:rPr>
              <a:t>Data Preprocessing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952560" y="5355360"/>
            <a:ext cx="1583028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a5b4fc"/>
                </a:solidFill>
                <a:latin typeface="Inter"/>
              </a:rPr>
              <a:t>Before entering the model, missing intervals are patched via forward-filling and polynomial interpolation to preserve interval spacing.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952560" y="6776280"/>
            <a:ext cx="4076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8fafc"/>
                </a:solidFill>
                <a:latin typeface="Inter"/>
              </a:rPr>
              <a:t>Feature Normalization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952560" y="7382160"/>
            <a:ext cx="16173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a5b4fc"/>
                </a:solidFill>
                <a:latin typeface="Inter"/>
              </a:rPr>
              <a:t>Engineered features undergo Z-score normalization and clipping to provide standardized inputs, which ensures stable gradient descent during training.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" descr="bg_slide_06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118" name="TextBox 2"/>
          <p:cNvSpPr/>
          <p:nvPr/>
        </p:nvSpPr>
        <p:spPr>
          <a:xfrm>
            <a:off x="952560" y="1360800"/>
            <a:ext cx="168397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0e5ff"/>
                </a:solidFill>
                <a:latin typeface="Inter"/>
              </a:rPr>
              <a:t>Model Strategy: Why this Stack?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952560" y="2665800"/>
            <a:ext cx="828648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150" spc="-1" strike="noStrike">
                <a:solidFill>
                  <a:srgbClr val="a5b4fc"/>
                </a:solidFill>
                <a:latin typeface="Inter"/>
              </a:rPr>
              <a:t>Limitations of LSTMs Alone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9429840" y="2665800"/>
            <a:ext cx="828648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150" spc="-1" strike="noStrike">
                <a:solidFill>
                  <a:srgbClr val="a5b4fc"/>
                </a:solidFill>
                <a:latin typeface="Inter"/>
              </a:rPr>
              <a:t>Limitations of Trees Alone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952560" y="3456360"/>
            <a:ext cx="8286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While excellent at recognizing multi-day momentum (e.g., a continuous warming trend), recurrent networks can struggle to react quickly to abrupt, immediate environmental changes.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9429840" y="3456360"/>
            <a:ext cx="8286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Decision trees natively excel at modeling instantaneous non-linear interactions but lack built-in temporal sequence memory to track weather fronts progressing over multiple days.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1352520" y="6561360"/>
            <a:ext cx="2914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850" spc="-1" strike="noStrike">
                <a:solidFill>
                  <a:srgbClr val="00ff88"/>
                </a:solidFill>
                <a:latin typeface="Inter"/>
              </a:rPr>
              <a:t>The Synthesis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8"/>
          <p:cNvSpPr/>
          <p:nvPr/>
        </p:nvSpPr>
        <p:spPr>
          <a:xfrm>
            <a:off x="1352520" y="7142400"/>
            <a:ext cx="1596348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f8fafc"/>
                </a:solidFill>
                <a:latin typeface="Inter"/>
              </a:rPr>
              <a:t>A stacked approach: The LSTM handles temporal sequence representations, passing its rolling outputs as features into a final LightGBM layer to form a more robust unified model.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1" descr="bg_slide_07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126" name="TextBox 2"/>
          <p:cNvSpPr/>
          <p:nvPr/>
        </p:nvSpPr>
        <p:spPr>
          <a:xfrm>
            <a:off x="952560" y="1360800"/>
            <a:ext cx="168397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0e5ff"/>
                </a:solidFill>
                <a:latin typeface="Inter"/>
              </a:rPr>
              <a:t>Model Architecture Execution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952560" y="2723040"/>
            <a:ext cx="105915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8fafc"/>
                </a:solidFill>
                <a:latin typeface="Inter"/>
              </a:rPr>
              <a:t>Component 1: Long Short-Term Memory (LSTM) Embeddings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952560" y="3328560"/>
            <a:ext cx="15249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a5b4fc"/>
                </a:solidFill>
                <a:latin typeface="Inter"/>
              </a:rPr>
              <a:t>Process the last 120 hours of meteorological data via a recurrent network to generate base thermal predictions.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952560" y="4201200"/>
            <a:ext cx="77148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8fafc"/>
                </a:solidFill>
                <a:latin typeface="Inter"/>
              </a:rPr>
              <a:t>Component 2: LightGBM Residual Corrector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952560" y="4806720"/>
            <a:ext cx="16163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a5b4fc"/>
                </a:solidFill>
                <a:latin typeface="Inter"/>
              </a:rPr>
              <a:t>LGBM models the residuals (errors) from the LSTM, utilizing current hour readings to refine the final output prediction.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1409760" y="6269760"/>
            <a:ext cx="462888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150" spc="-1" strike="noStrike">
                <a:solidFill>
                  <a:srgbClr val="ff4757"/>
                </a:solidFill>
                <a:latin typeface="Inter"/>
              </a:rPr>
              <a:t>Production Readiness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1409760" y="6948000"/>
            <a:ext cx="1455372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250" spc="-1" strike="noStrike">
                <a:solidFill>
                  <a:srgbClr val="e2e8f0"/>
                </a:solidFill>
                <a:latin typeface="Inter"/>
              </a:rPr>
              <a:t>The entire stacked pipeline is serialized into static artifacts to ensure consistent daily operations and rapid deployment.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" descr="bg_slide_03.png"/>
          <p:cNvPicPr/>
          <p:nvPr/>
        </p:nvPicPr>
        <p:blipFill>
          <a:blip r:embed="rId1"/>
          <a:stretch/>
        </p:blipFill>
        <p:spPr>
          <a:xfrm>
            <a:off x="72360" y="0"/>
            <a:ext cx="18287640" cy="1028664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2" descr="ve_slide_08_000.png"/>
          <p:cNvPicPr/>
          <p:nvPr/>
        </p:nvPicPr>
        <p:blipFill>
          <a:blip r:embed="rId2"/>
          <a:stretch/>
        </p:blipFill>
        <p:spPr>
          <a:xfrm>
            <a:off x="5448600" y="2337120"/>
            <a:ext cx="7511400" cy="4142880"/>
          </a:xfrm>
          <a:prstGeom prst="rect">
            <a:avLst/>
          </a:prstGeom>
          <a:ln w="0">
            <a:noFill/>
          </a:ln>
        </p:spPr>
      </p:pic>
      <p:sp>
        <p:nvSpPr>
          <p:cNvPr id="135" name="TextBox 3"/>
          <p:cNvSpPr/>
          <p:nvPr/>
        </p:nvSpPr>
        <p:spPr>
          <a:xfrm>
            <a:off x="952560" y="1360800"/>
            <a:ext cx="168397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0e5ff"/>
                </a:solidFill>
                <a:latin typeface="Inter"/>
              </a:rPr>
              <a:t>Model Performance &amp; Achievements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6550200" y="3447000"/>
            <a:ext cx="556848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3600" spc="-1" strike="noStrike">
                <a:solidFill>
                  <a:srgbClr val="94a3b8"/>
                </a:solidFill>
                <a:latin typeface="Inter"/>
              </a:rPr>
              <a:t>FINAL TEST SET MAE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6550200" y="4199400"/>
            <a:ext cx="6330240" cy="22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0" spc="-1" strike="noStrike">
                <a:solidFill>
                  <a:srgbClr val="00ff88"/>
                </a:solidFill>
                <a:latin typeface="JetBrains Mono"/>
              </a:rPr>
              <a:t>0.58 °C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6"/>
          <p:cNvSpPr/>
          <p:nvPr/>
        </p:nvSpPr>
        <p:spPr>
          <a:xfrm>
            <a:off x="2700000" y="7380000"/>
            <a:ext cx="133347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cbd5e1"/>
                </a:solidFill>
                <a:latin typeface="Inter"/>
              </a:rPr>
              <a:t>• </a:t>
            </a:r>
            <a:r>
              <a:rPr b="0" lang="en-US" sz="2700" spc="-1" strike="noStrike">
                <a:solidFill>
                  <a:srgbClr val="cbd5e1"/>
                </a:solidFill>
                <a:latin typeface="Inter"/>
              </a:rPr>
              <a:t>Polymarket resolves brackets in nominal 1-degree (Fahrenheit) intervals. Maintaining narrow error bounds is critical for accurate modeling.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7"/>
          <p:cNvSpPr/>
          <p:nvPr/>
        </p:nvSpPr>
        <p:spPr>
          <a:xfrm>
            <a:off x="2391120" y="6840000"/>
            <a:ext cx="4628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cbd5e1"/>
                </a:solidFill>
                <a:latin typeface="Inter"/>
              </a:rPr>
              <a:t>Operational Significance: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8"/>
          <p:cNvSpPr/>
          <p:nvPr/>
        </p:nvSpPr>
        <p:spPr>
          <a:xfrm>
            <a:off x="2700000" y="9000000"/>
            <a:ext cx="133347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cbd5e1"/>
                </a:solidFill>
                <a:latin typeface="Inter"/>
              </a:rPr>
              <a:t>• </a:t>
            </a:r>
            <a:r>
              <a:rPr b="0" lang="en-US" sz="2700" spc="-1" strike="noStrike">
                <a:solidFill>
                  <a:srgbClr val="cbd5e1"/>
                </a:solidFill>
                <a:latin typeface="Inter"/>
              </a:rPr>
              <a:t>Achieving a sub-0.6 degree MAE provides a statistical edge over standard public meteorological models, creating consistent expected value in prediction markets.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9"/>
          <p:cNvSpPr/>
          <p:nvPr/>
        </p:nvSpPr>
        <p:spPr>
          <a:xfrm>
            <a:off x="2160000" y="8581320"/>
            <a:ext cx="41716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cbd5e1"/>
                </a:solidFill>
                <a:latin typeface="Inter"/>
              </a:rPr>
              <a:t>The Final Assessment: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" descr="bg_slide_03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143" name="TextBox 2"/>
          <p:cNvSpPr/>
          <p:nvPr/>
        </p:nvSpPr>
        <p:spPr>
          <a:xfrm>
            <a:off x="952560" y="1360800"/>
            <a:ext cx="168397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0e5ff"/>
                </a:solidFill>
                <a:latin typeface="Inter"/>
              </a:rPr>
              <a:t>Terminal UI: Operator Focus (1/5)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952560" y="2723040"/>
            <a:ext cx="4885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ff88"/>
                </a:solidFill>
                <a:latin typeface="Inter"/>
              </a:rPr>
              <a:t>Moving Beyond Notebooks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9429840" y="2723040"/>
            <a:ext cx="2647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0e5ff"/>
                </a:solidFill>
                <a:latin typeface="Inter"/>
              </a:rPr>
              <a:t>Signal Clarity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1333440" y="3404880"/>
            <a:ext cx="7905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Standard data science notebooks can be inefficient for the real-time tracking requirements of active trading.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9810720" y="3404880"/>
            <a:ext cx="7905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Focusing exclusively on actionable metrics: identifying market mismatches and validating model reasoning.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7"/>
          <p:cNvSpPr/>
          <p:nvPr/>
        </p:nvSpPr>
        <p:spPr>
          <a:xfrm>
            <a:off x="1333440" y="5241240"/>
            <a:ext cx="7905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Transitioned to a structured UI layout tailored for live monitoring and clear information hierarchy.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8"/>
          <p:cNvSpPr/>
          <p:nvPr/>
        </p:nvSpPr>
        <p:spPr>
          <a:xfrm>
            <a:off x="9810720" y="5241240"/>
            <a:ext cx="790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700" spc="-1" strike="noStrike">
                <a:solidFill>
                  <a:srgbClr val="e2e8f0"/>
                </a:solidFill>
                <a:latin typeface="Inter"/>
              </a:rPr>
              <a:t>Using high-contrast deltas on a monospaced layout to ensure readability.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" descr="bg_slide_03.png"/>
          <p:cNvPicPr/>
          <p:nvPr/>
        </p:nvPicPr>
        <p:blipFill>
          <a:blip r:embed="rId1"/>
          <a:stretch/>
        </p:blipFill>
        <p:spPr>
          <a:xfrm>
            <a:off x="0" y="-231480"/>
            <a:ext cx="18287640" cy="1028664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2" descr="ve_slide_10_000.png"/>
          <p:cNvPicPr/>
          <p:nvPr/>
        </p:nvPicPr>
        <p:blipFill>
          <a:blip r:embed="rId2"/>
          <a:stretch/>
        </p:blipFill>
        <p:spPr>
          <a:xfrm>
            <a:off x="6244920" y="1915920"/>
            <a:ext cx="11280960" cy="7608600"/>
          </a:xfrm>
          <a:prstGeom prst="rect">
            <a:avLst/>
          </a:prstGeom>
          <a:ln w="0">
            <a:noFill/>
          </a:ln>
        </p:spPr>
      </p:pic>
      <p:pic>
        <p:nvPicPr>
          <p:cNvPr id="152" name="Picture 3" descr="ve_slide_10_001.png"/>
          <p:cNvPicPr/>
          <p:nvPr/>
        </p:nvPicPr>
        <p:blipFill>
          <a:blip r:embed="rId3"/>
          <a:stretch/>
        </p:blipFill>
        <p:spPr>
          <a:xfrm>
            <a:off x="6273360" y="1944720"/>
            <a:ext cx="11223720" cy="7551360"/>
          </a:xfrm>
          <a:prstGeom prst="rect">
            <a:avLst/>
          </a:prstGeom>
          <a:ln w="0">
            <a:noFill/>
          </a:ln>
        </p:spPr>
      </p:pic>
      <p:sp>
        <p:nvSpPr>
          <p:cNvPr id="153" name="TextBox 4"/>
          <p:cNvSpPr/>
          <p:nvPr/>
        </p:nvSpPr>
        <p:spPr>
          <a:xfrm>
            <a:off x="762120" y="1068120"/>
            <a:ext cx="171446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e5ff"/>
                </a:solidFill>
                <a:latin typeface="Inter"/>
              </a:rPr>
              <a:t>Terminal Drilldown: Identifying Opportunities (2/5)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1143000" y="2182680"/>
            <a:ext cx="5101560" cy="21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Comparing the Market Implied probability (Solid Blue Bars) directly against the Model Probability Distribution (Cyan Dashed Line).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6"/>
          <p:cNvSpPr/>
          <p:nvPr/>
        </p:nvSpPr>
        <p:spPr>
          <a:xfrm>
            <a:off x="1022760" y="1800000"/>
            <a:ext cx="3657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The Probability Layering: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1143000" y="4506840"/>
            <a:ext cx="5101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Automated calculation of expected Edge and overall Expected Value per share.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1080000" y="3996360"/>
            <a:ext cx="3590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Opportunity Calculation: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9"/>
          <p:cNvSpPr/>
          <p:nvPr/>
        </p:nvSpPr>
        <p:spPr>
          <a:xfrm>
            <a:off x="1080000" y="6573600"/>
            <a:ext cx="510156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Visually identifying specific brackets where market pricing significantly deviates from the model's forecast.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1000080" y="5976360"/>
            <a:ext cx="25999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Signal Detection: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" descr="bg_slide_03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161" name="TextBox 4"/>
          <p:cNvSpPr/>
          <p:nvPr/>
        </p:nvSpPr>
        <p:spPr>
          <a:xfrm>
            <a:off x="762120" y="1068120"/>
            <a:ext cx="171446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e5ff"/>
                </a:solidFill>
                <a:latin typeface="Inter"/>
              </a:rPr>
              <a:t>Terminal Drilldown: Position Management (3/5)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12805200" y="2182680"/>
            <a:ext cx="5101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Visualizing performance breakdown across varying contracts.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12780000" y="1800000"/>
            <a:ext cx="2990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PnL Waterfall Chart: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12805200" y="3653280"/>
            <a:ext cx="5101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Capital clustering segmented for quick verification of asset distribution limits.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12805200" y="3240000"/>
            <a:ext cx="251424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Allocation View: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12805200" y="5123880"/>
            <a:ext cx="510156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Real-time execution details and PnL tracking updated natively without requiring manual page reloads.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12805200" y="4680000"/>
            <a:ext cx="21808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Live Updates: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" descr=""/>
          <p:cNvPicPr/>
          <p:nvPr/>
        </p:nvPicPr>
        <p:blipFill>
          <a:blip r:embed="rId2"/>
          <a:stretch/>
        </p:blipFill>
        <p:spPr>
          <a:xfrm>
            <a:off x="720000" y="2109240"/>
            <a:ext cx="11362680" cy="671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1" descr="bg_slide_03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2" descr="ve_slide_12_000.png"/>
          <p:cNvPicPr/>
          <p:nvPr/>
        </p:nvPicPr>
        <p:blipFill>
          <a:blip r:embed="rId2"/>
          <a:stretch/>
        </p:blipFill>
        <p:spPr>
          <a:xfrm>
            <a:off x="6584760" y="1915920"/>
            <a:ext cx="10940760" cy="7608600"/>
          </a:xfrm>
          <a:prstGeom prst="rect">
            <a:avLst/>
          </a:prstGeom>
          <a:ln w="0">
            <a:noFill/>
          </a:ln>
        </p:spPr>
      </p:pic>
      <p:pic>
        <p:nvPicPr>
          <p:cNvPr id="171" name="Picture 3" descr="ve_slide_12_001.png"/>
          <p:cNvPicPr/>
          <p:nvPr/>
        </p:nvPicPr>
        <p:blipFill>
          <a:blip r:embed="rId3"/>
          <a:stretch/>
        </p:blipFill>
        <p:spPr>
          <a:xfrm>
            <a:off x="6613560" y="1944720"/>
            <a:ext cx="10883520" cy="7551360"/>
          </a:xfrm>
          <a:prstGeom prst="rect">
            <a:avLst/>
          </a:prstGeom>
          <a:ln w="0">
            <a:noFill/>
          </a:ln>
        </p:spPr>
      </p:pic>
      <p:sp>
        <p:nvSpPr>
          <p:cNvPr id="172" name="TextBox 4"/>
          <p:cNvSpPr/>
          <p:nvPr/>
        </p:nvSpPr>
        <p:spPr>
          <a:xfrm>
            <a:off x="762120" y="1068120"/>
            <a:ext cx="171446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e5ff"/>
                </a:solidFill>
                <a:latin typeface="Inter"/>
              </a:rPr>
              <a:t>Terminal Drilldown: Diagnostic Radar (4/5)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1143000" y="2182680"/>
            <a:ext cx="544140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Displaying the model's confidence ranking for current targets, providing context beyond a single deterministic output.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6"/>
          <p:cNvSpPr/>
          <p:nvPr/>
        </p:nvSpPr>
        <p:spPr>
          <a:xfrm>
            <a:off x="1143000" y="1906560"/>
            <a:ext cx="2895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Confidence Gauge: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7"/>
          <p:cNvSpPr/>
          <p:nvPr/>
        </p:nvSpPr>
        <p:spPr>
          <a:xfrm>
            <a:off x="1143000" y="4079880"/>
            <a:ext cx="544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Providing immediate situational awareness of physical measurements.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8"/>
          <p:cNvSpPr/>
          <p:nvPr/>
        </p:nvSpPr>
        <p:spPr>
          <a:xfrm>
            <a:off x="1143000" y="3756240"/>
            <a:ext cx="30286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Live Telemetry Grid: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9"/>
          <p:cNvSpPr/>
          <p:nvPr/>
        </p:nvSpPr>
        <p:spPr>
          <a:xfrm>
            <a:off x="1143000" y="5550480"/>
            <a:ext cx="5441400" cy="21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Displaying current versus previous values directly under primary metrics to highlight significant recent changes in environmental conditions.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0"/>
          <p:cNvSpPr/>
          <p:nvPr/>
        </p:nvSpPr>
        <p:spPr>
          <a:xfrm>
            <a:off x="1143000" y="5220000"/>
            <a:ext cx="23619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Delta Mapping: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icture 1" descr="bg_slide_03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2" descr="ve_slide_12_000.png"/>
          <p:cNvPicPr/>
          <p:nvPr/>
        </p:nvPicPr>
        <p:blipFill>
          <a:blip r:embed="rId2"/>
          <a:stretch/>
        </p:blipFill>
        <p:spPr>
          <a:xfrm>
            <a:off x="762120" y="1915920"/>
            <a:ext cx="10940760" cy="7608600"/>
          </a:xfrm>
          <a:prstGeom prst="rect">
            <a:avLst/>
          </a:prstGeom>
          <a:ln w="0">
            <a:noFill/>
          </a:ln>
        </p:spPr>
      </p:pic>
      <p:pic>
        <p:nvPicPr>
          <p:cNvPr id="181" name="Picture 3" descr="ve_slide_13_001.png"/>
          <p:cNvPicPr/>
          <p:nvPr/>
        </p:nvPicPr>
        <p:blipFill>
          <a:blip r:embed="rId3"/>
          <a:stretch/>
        </p:blipFill>
        <p:spPr>
          <a:xfrm>
            <a:off x="790560" y="1944720"/>
            <a:ext cx="10883520" cy="7551360"/>
          </a:xfrm>
          <a:prstGeom prst="rect">
            <a:avLst/>
          </a:prstGeom>
          <a:ln w="0">
            <a:noFill/>
          </a:ln>
        </p:spPr>
      </p:pic>
      <p:sp>
        <p:nvSpPr>
          <p:cNvPr id="182" name="TextBox 4"/>
          <p:cNvSpPr/>
          <p:nvPr/>
        </p:nvSpPr>
        <p:spPr>
          <a:xfrm>
            <a:off x="762120" y="1068120"/>
            <a:ext cx="171446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e5ff"/>
                </a:solidFill>
                <a:latin typeface="Inter"/>
              </a:rPr>
              <a:t>Terminal Drilldown: Trade Execution (5/5)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12465000" y="2182680"/>
            <a:ext cx="544140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Providing insight into which meteorological features are driving the current prediction via the Decision Matrix.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6"/>
          <p:cNvSpPr/>
          <p:nvPr/>
        </p:nvSpPr>
        <p:spPr>
          <a:xfrm>
            <a:off x="12465000" y="1859040"/>
            <a:ext cx="34477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Decision Transparency: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12465000" y="4079880"/>
            <a:ext cx="544140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Utilizing the Kelly Criterion to estimate statistically optimal bet sizing to manage bankroll risk.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8"/>
          <p:cNvSpPr/>
          <p:nvPr/>
        </p:nvSpPr>
        <p:spPr>
          <a:xfrm>
            <a:off x="12465000" y="3756240"/>
            <a:ext cx="2580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Sizing Guidance: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12465000" y="5977080"/>
            <a:ext cx="5441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8fafc"/>
                </a:solidFill>
                <a:latin typeface="Inter"/>
              </a:rPr>
              <a:t>Integrated links direct users to the specific Polymarket contract for seamless execution.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12465000" y="5580000"/>
            <a:ext cx="3238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8fafc"/>
                </a:solidFill>
                <a:latin typeface="Inter"/>
              </a:rPr>
              <a:t>Direct Market Access: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6" descr="bg_slide_03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190" name="TextBox 17"/>
          <p:cNvSpPr/>
          <p:nvPr/>
        </p:nvSpPr>
        <p:spPr>
          <a:xfrm>
            <a:off x="762120" y="1068120"/>
            <a:ext cx="171446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e5ff"/>
                </a:solidFill>
                <a:latin typeface="Inter"/>
              </a:rPr>
              <a:t>Terminal Full view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" descr=""/>
          <p:cNvPicPr/>
          <p:nvPr/>
        </p:nvPicPr>
        <p:blipFill>
          <a:blip r:embed="rId2"/>
          <a:stretch/>
        </p:blipFill>
        <p:spPr>
          <a:xfrm>
            <a:off x="266760" y="1626120"/>
            <a:ext cx="17754120" cy="828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" descr="bg_slide_03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pic>
        <p:nvPicPr>
          <p:cNvPr id="193" name="Picture 2" descr="ve_slide_14_000.png"/>
          <p:cNvPicPr/>
          <p:nvPr/>
        </p:nvPicPr>
        <p:blipFill>
          <a:blip r:embed="rId2"/>
          <a:stretch/>
        </p:blipFill>
        <p:spPr>
          <a:xfrm>
            <a:off x="952560" y="2665800"/>
            <a:ext cx="7810200" cy="5293800"/>
          </a:xfrm>
          <a:prstGeom prst="rect">
            <a:avLst/>
          </a:prstGeom>
          <a:ln w="0">
            <a:noFill/>
          </a:ln>
        </p:spPr>
      </p:pic>
      <p:pic>
        <p:nvPicPr>
          <p:cNvPr id="194" name="Picture 3" descr="ve_slide_14_000.png"/>
          <p:cNvPicPr/>
          <p:nvPr/>
        </p:nvPicPr>
        <p:blipFill>
          <a:blip r:embed="rId3"/>
          <a:stretch/>
        </p:blipFill>
        <p:spPr>
          <a:xfrm>
            <a:off x="9524880" y="2665800"/>
            <a:ext cx="7810200" cy="5293800"/>
          </a:xfrm>
          <a:prstGeom prst="rect">
            <a:avLst/>
          </a:prstGeom>
          <a:ln w="0">
            <a:noFill/>
          </a:ln>
        </p:spPr>
      </p:pic>
      <p:sp>
        <p:nvSpPr>
          <p:cNvPr id="195" name="TextBox 4"/>
          <p:cNvSpPr/>
          <p:nvPr/>
        </p:nvSpPr>
        <p:spPr>
          <a:xfrm>
            <a:off x="952560" y="1360800"/>
            <a:ext cx="168397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00e5ff"/>
                </a:solidFill>
                <a:latin typeface="Inter"/>
              </a:rPr>
              <a:t>Future Roadmap: Project Expansion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1438200" y="3151440"/>
            <a:ext cx="721944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a5b4fc"/>
                </a:solidFill>
                <a:latin typeface="Inter"/>
              </a:rPr>
              <a:t>V2 Phase: Multi-City Coverage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6"/>
          <p:cNvSpPr/>
          <p:nvPr/>
        </p:nvSpPr>
        <p:spPr>
          <a:xfrm>
            <a:off x="10010880" y="3151440"/>
            <a:ext cx="721944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a5b4fc"/>
                </a:solidFill>
                <a:latin typeface="Inter"/>
              </a:rPr>
              <a:t>V3 Phase: Automated Execution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1819440" y="4654800"/>
            <a:ext cx="683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Scaling data pipelines to encompass additional high-volume betting geographies, like Chicago, New York, and Austin.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10391760" y="4654800"/>
            <a:ext cx="6838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Exploring radar and satellite imagery parsing for enhanced local modeling.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10391760" y="5797800"/>
            <a:ext cx="6838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• </a:t>
            </a:r>
            <a:r>
              <a:rPr b="0" lang="en-US" sz="2400" spc="-1" strike="noStrike">
                <a:solidFill>
                  <a:srgbClr val="e2e8f0"/>
                </a:solidFill>
                <a:latin typeface="Inter"/>
              </a:rPr>
              <a:t>Integrating Web3 APIs to enable automated limit-order execution directly from the Python backend.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1" descr="bg_slide_15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202" name="TextBox 2"/>
          <p:cNvSpPr/>
          <p:nvPr/>
        </p:nvSpPr>
        <p:spPr>
          <a:xfrm>
            <a:off x="7620120" y="4114800"/>
            <a:ext cx="390492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0" spc="-1" strike="noStrike">
                <a:solidFill>
                  <a:srgbClr val="00ff88"/>
                </a:solidFill>
                <a:latin typeface="Inter"/>
              </a:rPr>
              <a:t>Q &amp; A</a:t>
            </a:r>
            <a:endParaRPr b="0" lang="en-US" sz="9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6072120" y="5753160"/>
            <a:ext cx="6524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700" spc="-1" strike="noStrike">
                <a:solidFill>
                  <a:srgbClr val="a5b4fc"/>
                </a:solidFill>
                <a:latin typeface="Inter"/>
              </a:rPr>
              <a:t>DEMONSTRATION CONCLUDED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/>
  <dcterms:modified xsi:type="dcterms:W3CDTF">2026-04-14T07:43:41Z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